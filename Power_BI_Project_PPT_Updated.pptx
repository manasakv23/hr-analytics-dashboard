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9" r:id="rId3"/>
    <p:sldId id="258" r:id="rId4"/>
    <p:sldId id="262" r:id="rId5"/>
    <p:sldId id="263" r:id="rId6"/>
    <p:sldId id="264" r:id="rId7"/>
    <p:sldId id="277" r:id="rId8"/>
    <p:sldId id="265" r:id="rId9"/>
    <p:sldId id="278" r:id="rId10"/>
    <p:sldId id="266" r:id="rId11"/>
    <p:sldId id="268" r:id="rId12"/>
    <p:sldId id="269" r:id="rId13"/>
    <p:sldId id="279" r:id="rId14"/>
    <p:sldId id="270" r:id="rId15"/>
    <p:sldId id="271" r:id="rId16"/>
    <p:sldId id="280" r:id="rId17"/>
    <p:sldId id="273" r:id="rId18"/>
    <p:sldId id="281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7416AA-DDBB-4414-8E89-FC1AEBE25337}">
          <p14:sldIdLst>
            <p14:sldId id="256"/>
            <p14:sldId id="259"/>
            <p14:sldId id="258"/>
          </p14:sldIdLst>
        </p14:section>
        <p14:section name="Untitled Section" id="{791771FC-76D6-47EB-AC67-BB89720FCEBF}">
          <p14:sldIdLst>
            <p14:sldId id="262"/>
            <p14:sldId id="263"/>
            <p14:sldId id="264"/>
            <p14:sldId id="277"/>
            <p14:sldId id="265"/>
            <p14:sldId id="278"/>
            <p14:sldId id="266"/>
            <p14:sldId id="268"/>
            <p14:sldId id="269"/>
            <p14:sldId id="279"/>
            <p14:sldId id="270"/>
            <p14:sldId id="271"/>
            <p14:sldId id="280"/>
            <p14:sldId id="273"/>
            <p14:sldId id="281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8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8015A-103F-4741-B368-FBDE5036CBC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78DF8-3667-441B-91C2-EF6EB5F2B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15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78DF8-3667-441B-91C2-EF6EB5F2B7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8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2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0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8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9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7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5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75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8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7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4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81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59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7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48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3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56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0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0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8098-60E6-4851-A4DF-44BA4B9FB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739588"/>
            <a:ext cx="9001462" cy="1640541"/>
          </a:xfrm>
        </p:spPr>
        <p:txBody>
          <a:bodyPr>
            <a:normAutofit/>
          </a:bodyPr>
          <a:lstStyle/>
          <a:p>
            <a:r>
              <a:rPr lang="en-US" sz="3200" dirty="0"/>
              <a:t>Employee Attrition &amp; Workforce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29F84-5305-45DE-8E1A-51374C1EE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719" y="2528047"/>
            <a:ext cx="9763012" cy="35903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POWER BI PROJECT PRESENTATION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Presented By</a:t>
            </a:r>
          </a:p>
          <a:p>
            <a:r>
              <a:rPr lang="en-US" dirty="0"/>
              <a:t>MANASA K 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71370A-3F5C-4BE2-870B-FC76FFE8965A}"/>
              </a:ext>
            </a:extLst>
          </p:cNvPr>
          <p:cNvSpPr/>
          <p:nvPr/>
        </p:nvSpPr>
        <p:spPr>
          <a:xfrm>
            <a:off x="385762" y="342899"/>
            <a:ext cx="11358563" cy="6186489"/>
          </a:xfrm>
          <a:custGeom>
            <a:avLst/>
            <a:gdLst>
              <a:gd name="connsiteX0" fmla="*/ 0 w 11329988"/>
              <a:gd name="connsiteY0" fmla="*/ 0 h 6057900"/>
              <a:gd name="connsiteX1" fmla="*/ 11329988 w 11329988"/>
              <a:gd name="connsiteY1" fmla="*/ 0 h 6057900"/>
              <a:gd name="connsiteX2" fmla="*/ 11329988 w 11329988"/>
              <a:gd name="connsiteY2" fmla="*/ 6057900 h 6057900"/>
              <a:gd name="connsiteX3" fmla="*/ 0 w 11329988"/>
              <a:gd name="connsiteY3" fmla="*/ 6057900 h 6057900"/>
              <a:gd name="connsiteX4" fmla="*/ 0 w 11329988"/>
              <a:gd name="connsiteY4" fmla="*/ 0 h 6057900"/>
              <a:gd name="connsiteX0" fmla="*/ 0 w 11344275"/>
              <a:gd name="connsiteY0" fmla="*/ 0 h 6086475"/>
              <a:gd name="connsiteX1" fmla="*/ 11344275 w 11344275"/>
              <a:gd name="connsiteY1" fmla="*/ 28575 h 6086475"/>
              <a:gd name="connsiteX2" fmla="*/ 11344275 w 11344275"/>
              <a:gd name="connsiteY2" fmla="*/ 6086475 h 6086475"/>
              <a:gd name="connsiteX3" fmla="*/ 14287 w 11344275"/>
              <a:gd name="connsiteY3" fmla="*/ 6086475 h 6086475"/>
              <a:gd name="connsiteX4" fmla="*/ 0 w 11344275"/>
              <a:gd name="connsiteY4" fmla="*/ 0 h 608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44275" h="6086475">
                <a:moveTo>
                  <a:pt x="0" y="0"/>
                </a:moveTo>
                <a:lnTo>
                  <a:pt x="11344275" y="28575"/>
                </a:lnTo>
                <a:lnTo>
                  <a:pt x="11344275" y="6086475"/>
                </a:lnTo>
                <a:lnTo>
                  <a:pt x="14287" y="6086475"/>
                </a:lnTo>
                <a:cubicBezTo>
                  <a:pt x="9525" y="4057650"/>
                  <a:pt x="4762" y="2028825"/>
                  <a:pt x="0" y="0"/>
                </a:cubicBezTo>
                <a:close/>
              </a:path>
            </a:pathLst>
          </a:cu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431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8088-A2B3-4B03-AF74-4813A7ECE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2048"/>
            <a:ext cx="10353761" cy="869721"/>
          </a:xfrm>
        </p:spPr>
        <p:txBody>
          <a:bodyPr>
            <a:normAutofit/>
          </a:bodyPr>
          <a:lstStyle/>
          <a:p>
            <a:r>
              <a:rPr lang="en-US" sz="3200" dirty="0"/>
              <a:t>AGENDA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730CA-8F73-4E13-BA27-62482ABEF870}"/>
              </a:ext>
            </a:extLst>
          </p:cNvPr>
          <p:cNvSpPr/>
          <p:nvPr/>
        </p:nvSpPr>
        <p:spPr>
          <a:xfrm>
            <a:off x="1599594" y="2553953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Dataset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462DF-D909-41ED-8F31-E5E986515FDD}"/>
              </a:ext>
            </a:extLst>
          </p:cNvPr>
          <p:cNvSpPr/>
          <p:nvPr/>
        </p:nvSpPr>
        <p:spPr>
          <a:xfrm>
            <a:off x="1599594" y="1341039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7AC48-9437-413E-950E-D02503705928}"/>
              </a:ext>
            </a:extLst>
          </p:cNvPr>
          <p:cNvSpPr/>
          <p:nvPr/>
        </p:nvSpPr>
        <p:spPr>
          <a:xfrm>
            <a:off x="1599594" y="3766011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Data Cleaning &amp;      Transformation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F4125-50F1-4016-A489-D08081FDD383}"/>
              </a:ext>
            </a:extLst>
          </p:cNvPr>
          <p:cNvSpPr/>
          <p:nvPr/>
        </p:nvSpPr>
        <p:spPr>
          <a:xfrm>
            <a:off x="1599594" y="4978069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model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4B5002-FFE2-4B6C-ABAA-57C31ECFC372}"/>
              </a:ext>
            </a:extLst>
          </p:cNvPr>
          <p:cNvSpPr/>
          <p:nvPr/>
        </p:nvSpPr>
        <p:spPr>
          <a:xfrm>
            <a:off x="6433575" y="2553953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Dashboard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0B2A9-0B74-4459-84AC-1F78739430F6}"/>
              </a:ext>
            </a:extLst>
          </p:cNvPr>
          <p:cNvSpPr/>
          <p:nvPr/>
        </p:nvSpPr>
        <p:spPr>
          <a:xfrm>
            <a:off x="6433575" y="3766011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Key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112AD4-6BE1-4D0D-A429-95B9EFFCE305}"/>
              </a:ext>
            </a:extLst>
          </p:cNvPr>
          <p:cNvSpPr/>
          <p:nvPr/>
        </p:nvSpPr>
        <p:spPr>
          <a:xfrm>
            <a:off x="6433575" y="4978069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Roadmap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CD1F3E-1A53-4CC4-BB05-A1B826BE01EA}"/>
              </a:ext>
            </a:extLst>
          </p:cNvPr>
          <p:cNvSpPr/>
          <p:nvPr/>
        </p:nvSpPr>
        <p:spPr>
          <a:xfrm>
            <a:off x="6433575" y="1342185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Dashboard Development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6C4FA5-4006-471B-91EC-B2A2E3475750}"/>
              </a:ext>
            </a:extLst>
          </p:cNvPr>
          <p:cNvSpPr/>
          <p:nvPr/>
        </p:nvSpPr>
        <p:spPr>
          <a:xfrm>
            <a:off x="385763" y="314324"/>
            <a:ext cx="11401425" cy="621506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8DE8E9-DFAD-49BD-B604-AB9347B82839}"/>
              </a:ext>
            </a:extLst>
          </p:cNvPr>
          <p:cNvSpPr/>
          <p:nvPr/>
        </p:nvSpPr>
        <p:spPr>
          <a:xfrm>
            <a:off x="1671311" y="1524129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88DB17-F3B6-4ECC-802D-245EC1326761}"/>
              </a:ext>
            </a:extLst>
          </p:cNvPr>
          <p:cNvSpPr/>
          <p:nvPr/>
        </p:nvSpPr>
        <p:spPr>
          <a:xfrm>
            <a:off x="1658192" y="2718259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0803CCA-C51C-4445-B66B-E359445CB62F}"/>
              </a:ext>
            </a:extLst>
          </p:cNvPr>
          <p:cNvSpPr/>
          <p:nvPr/>
        </p:nvSpPr>
        <p:spPr>
          <a:xfrm>
            <a:off x="1658193" y="3930317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B0A8EA-92C5-480C-B5A7-77A9736CDFF7}"/>
              </a:ext>
            </a:extLst>
          </p:cNvPr>
          <p:cNvSpPr/>
          <p:nvPr/>
        </p:nvSpPr>
        <p:spPr>
          <a:xfrm>
            <a:off x="1658193" y="5131199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68DE3E9-12D3-47BA-BC79-6EE7E9E015BF}"/>
              </a:ext>
            </a:extLst>
          </p:cNvPr>
          <p:cNvSpPr/>
          <p:nvPr/>
        </p:nvSpPr>
        <p:spPr>
          <a:xfrm>
            <a:off x="6485593" y="1505345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F68867-D5E6-49D3-B605-6BE81325C7AF}"/>
              </a:ext>
            </a:extLst>
          </p:cNvPr>
          <p:cNvSpPr/>
          <p:nvPr/>
        </p:nvSpPr>
        <p:spPr>
          <a:xfrm>
            <a:off x="6485592" y="2718259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E9C25E1-1D30-445E-A9E0-139C7566E0B4}"/>
              </a:ext>
            </a:extLst>
          </p:cNvPr>
          <p:cNvSpPr/>
          <p:nvPr/>
        </p:nvSpPr>
        <p:spPr>
          <a:xfrm>
            <a:off x="6480460" y="3948245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BBBC73-120A-4246-B141-3DED1CF0AA16}"/>
              </a:ext>
            </a:extLst>
          </p:cNvPr>
          <p:cNvSpPr/>
          <p:nvPr/>
        </p:nvSpPr>
        <p:spPr>
          <a:xfrm>
            <a:off x="6543468" y="5130053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771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204D-BE21-47A6-9A50-C4D65A9B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 Dataset Summary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7CC25-866B-4C1C-8D82-C7600DD1CFBB}"/>
              </a:ext>
            </a:extLst>
          </p:cNvPr>
          <p:cNvSpPr/>
          <p:nvPr/>
        </p:nvSpPr>
        <p:spPr>
          <a:xfrm>
            <a:off x="385763" y="314325"/>
            <a:ext cx="11430000" cy="6172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13202A-9AC3-4AFD-B284-868CD6CB5CA4}"/>
              </a:ext>
            </a:extLst>
          </p:cNvPr>
          <p:cNvSpPr/>
          <p:nvPr/>
        </p:nvSpPr>
        <p:spPr>
          <a:xfrm>
            <a:off x="771525" y="2128951"/>
            <a:ext cx="4814888" cy="170021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📊 </a:t>
            </a:r>
            <a:r>
              <a:rPr lang="en-US" b="1" dirty="0"/>
              <a:t>Power BI Analytics</a:t>
            </a:r>
            <a:br>
              <a:rPr lang="en-US" dirty="0"/>
            </a:br>
            <a:r>
              <a:rPr lang="en-US" dirty="0"/>
              <a:t>HR insights using Power BI dashboards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5B97DD-4F4D-4D1F-8733-0AF5572C3835}"/>
              </a:ext>
            </a:extLst>
          </p:cNvPr>
          <p:cNvSpPr/>
          <p:nvPr/>
        </p:nvSpPr>
        <p:spPr>
          <a:xfrm>
            <a:off x="771524" y="4043692"/>
            <a:ext cx="4814888" cy="170021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📁 </a:t>
            </a:r>
            <a:r>
              <a:rPr lang="en-US" b="1" dirty="0"/>
              <a:t>Dataset Source</a:t>
            </a:r>
            <a:br>
              <a:rPr lang="en-US" dirty="0"/>
            </a:br>
            <a:r>
              <a:rPr lang="en-US" dirty="0"/>
              <a:t>Kaggle dataset in Excel format</a:t>
            </a:r>
          </a:p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08ACF92-41FA-4B5E-87EE-F66235E97A6B}"/>
              </a:ext>
            </a:extLst>
          </p:cNvPr>
          <p:cNvSpPr/>
          <p:nvPr/>
        </p:nvSpPr>
        <p:spPr>
          <a:xfrm>
            <a:off x="6190536" y="4032721"/>
            <a:ext cx="4814888" cy="170021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💡 </a:t>
            </a:r>
            <a:r>
              <a:rPr lang="en-US" b="1" dirty="0"/>
              <a:t>Business Insights</a:t>
            </a:r>
            <a:br>
              <a:rPr lang="en-US" dirty="0"/>
            </a:br>
            <a:r>
              <a:rPr lang="en-US" dirty="0"/>
              <a:t>Retention and workforce planning analysis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FF88D79-1FF8-4E96-A36D-2550BE6A00FF}"/>
              </a:ext>
            </a:extLst>
          </p:cNvPr>
          <p:cNvSpPr/>
          <p:nvPr/>
        </p:nvSpPr>
        <p:spPr>
          <a:xfrm>
            <a:off x="6186336" y="2150894"/>
            <a:ext cx="4814888" cy="170021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👥 </a:t>
            </a:r>
            <a:r>
              <a:rPr lang="en-US" b="1" dirty="0"/>
              <a:t>Workforce Analysis</a:t>
            </a:r>
            <a:br>
              <a:rPr lang="en-US" dirty="0"/>
            </a:br>
            <a:r>
              <a:rPr lang="en-US" dirty="0"/>
              <a:t>Employee demographics &amp; attrition metrics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2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8F62-201B-484D-A7DB-9FF635AA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45" y="265578"/>
            <a:ext cx="8073043" cy="1044669"/>
          </a:xfrm>
        </p:spPr>
        <p:txBody>
          <a:bodyPr>
            <a:normAutofit/>
          </a:bodyPr>
          <a:lstStyle/>
          <a:p>
            <a:r>
              <a:rPr lang="en-US" sz="2400" b="1" dirty="0"/>
              <a:t>Power Query Data Transformation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9C4A-B59F-4B18-8A38-01A68D2B3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310248"/>
            <a:ext cx="10353762" cy="4572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Imported the HR dataset from Excel into Power BI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Enabled automatic data type detection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Cleaned employee records for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Renamed columns for better readability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Converted columns into appropriate data types (Text, Whole Number, Date)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Removed unnecessary or unused columns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Standardized categorical values for consistency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Prepared employee attrition and workforce data for reporting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Loaded transformed data into Power BI for dashboard visualization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8CD9C5-9FD2-453D-B451-7447A7E6D109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87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E66D-042C-4EFB-AF20-46629B5D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338138"/>
            <a:ext cx="4829175" cy="547687"/>
          </a:xfrm>
        </p:spPr>
        <p:txBody>
          <a:bodyPr>
            <a:normAutofit/>
          </a:bodyPr>
          <a:lstStyle/>
          <a:p>
            <a:r>
              <a:rPr lang="en-US" sz="2400" b="1" dirty="0"/>
              <a:t>Data Model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4E1E0-EDC6-4D47-B929-3C44EC66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738" y="1140479"/>
            <a:ext cx="10353762" cy="54863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Created a centralized HR data model in Microsoft Power BI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Used the HR Employee dataset as the primary fact table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Organized employee information into structured fields and categories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Established relationships between employee attributes and HR metrics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Connected department, job role, gender, and attrition data for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Applied one-to-many relationships where required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Optimized the model for fast dashboard performance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Enabled filtering and drill-down analysis across visuals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Supported KPI calculations and interactive reports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Improved data consistency and analytical accuracy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E8C636-0FDB-4978-AA5A-3B33BC241278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36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FCBF-BD36-40C1-AAC7-073BCE41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4" y="1095676"/>
            <a:ext cx="2386012" cy="385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1. KPI Cards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89E8D-34BC-434B-950A-073B779E3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7982" y="1554344"/>
            <a:ext cx="8853218" cy="4996240"/>
          </a:xfrm>
          <a:noFill/>
        </p:spPr>
        <p:txBody>
          <a:bodyPr wrap="square">
            <a:spAutoFit/>
          </a:bodyPr>
          <a:lstStyle/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Total Employees – 1,470</a:t>
            </a:r>
            <a:br>
              <a:rPr lang="en-US" dirty="0"/>
            </a:br>
            <a:r>
              <a:rPr lang="en-US" dirty="0"/>
              <a:t>Shows the total number of employees in the organization.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Attrition – 237</a:t>
            </a:r>
            <a:br>
              <a:rPr lang="en-US" dirty="0"/>
            </a:br>
            <a:r>
              <a:rPr lang="en-US" dirty="0"/>
              <a:t>Represents employees who left the company.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Attrition Rate – 16.12%</a:t>
            </a:r>
            <a:br>
              <a:rPr lang="en-US" dirty="0"/>
            </a:br>
            <a:r>
              <a:rPr lang="en-US" dirty="0"/>
              <a:t>Indicates the percentage of employee turnover.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Active Employees – 1,233</a:t>
            </a:r>
            <a:br>
              <a:rPr lang="en-US" dirty="0"/>
            </a:br>
            <a:r>
              <a:rPr lang="en-US" dirty="0"/>
              <a:t>Displays the current active workforce.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Average Age – 37</a:t>
            </a:r>
            <a:br>
              <a:rPr lang="en-US" dirty="0"/>
            </a:br>
            <a:r>
              <a:rPr lang="en-US" dirty="0"/>
              <a:t>Represents the average employee age.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05F331-3F94-4054-BBC9-C201FD6159EC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62C73-2250-4E64-A7BA-900725F42AA9}"/>
              </a:ext>
            </a:extLst>
          </p:cNvPr>
          <p:cNvSpPr txBox="1"/>
          <p:nvPr/>
        </p:nvSpPr>
        <p:spPr>
          <a:xfrm>
            <a:off x="2339276" y="409791"/>
            <a:ext cx="7106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HR ANALYTICS &amp; ATTRITION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0664A-A433-42B7-BD6E-A3A4B5607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052" y="859180"/>
            <a:ext cx="1853208" cy="1034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20F8FC-3B22-442A-87D2-D0C7526C8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052" y="1998346"/>
            <a:ext cx="1853208" cy="99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B29CE3-E39B-44AB-872A-5D65A516C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051" y="3101409"/>
            <a:ext cx="1853209" cy="1006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D45609-50BE-4F84-B0AE-369871262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288" y="4224723"/>
            <a:ext cx="1862734" cy="10477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48C4C3-5B09-4C21-B5C9-38910DF77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288" y="5406485"/>
            <a:ext cx="1862734" cy="99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0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AFDA35-99E5-4031-A1B0-3D5576F76170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2E4F0-D328-4708-B349-7F5D022F16C4}"/>
              </a:ext>
            </a:extLst>
          </p:cNvPr>
          <p:cNvSpPr txBox="1"/>
          <p:nvPr/>
        </p:nvSpPr>
        <p:spPr>
          <a:xfrm>
            <a:off x="589360" y="368676"/>
            <a:ext cx="6768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+mj-lt"/>
              </a:rPr>
              <a:t>2. DEPARTMENT-WISE ATTRITION (PIE CHART)</a:t>
            </a:r>
            <a:endParaRPr lang="en-US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6EB5F-58D7-4E02-A946-CBA938DA4547}"/>
              </a:ext>
            </a:extLst>
          </p:cNvPr>
          <p:cNvSpPr txBox="1"/>
          <p:nvPr/>
        </p:nvSpPr>
        <p:spPr>
          <a:xfrm>
            <a:off x="832247" y="848870"/>
            <a:ext cx="6282928" cy="18620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chart shows attrition distribution across departments.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R&amp;D department has the highest attrition.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Sales department shows moderate attrition.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HR department has the lowest attrition.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008CE23-6C41-4784-9229-A091D5B1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360" y="3250330"/>
            <a:ext cx="6326980" cy="369332"/>
          </a:xfrm>
          <a:noFill/>
        </p:spPr>
        <p:txBody>
          <a:bodyPr wrap="square">
            <a:spAutoFit/>
          </a:bodyPr>
          <a:lstStyle/>
          <a:p>
            <a:pPr algn="l" defTabSz="457200"/>
            <a:r>
              <a:rPr lang="en-US" sz="2000" dirty="0">
                <a:ea typeface="+mn-ea"/>
                <a:cs typeface="+mn-cs"/>
              </a:rPr>
              <a:t>3. Employees by Age Group (Bar Chart)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F69C82E-EC34-4464-98CF-0FD3F7424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2247" y="3859357"/>
            <a:ext cx="6089924" cy="2416046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Displays employee distribution across different age groups.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Majority of employees belong to the 25–34 and 35–44 age categories.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Fewer employees are above 55 years.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Applied age-group sorting for clear workforce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6B764-BA80-4E7E-B3FF-DCE1EDC8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234" y="757223"/>
            <a:ext cx="3751315" cy="2200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9CF85B-04E2-4FAA-B01A-2770259AF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08" y="3790612"/>
            <a:ext cx="3807365" cy="231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29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3EBBBF5-6511-48A7-9624-A7D80BDB691D}"/>
              </a:ext>
            </a:extLst>
          </p:cNvPr>
          <p:cNvSpPr txBox="1"/>
          <p:nvPr/>
        </p:nvSpPr>
        <p:spPr>
          <a:xfrm>
            <a:off x="568052" y="3214656"/>
            <a:ext cx="69789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en-US" dirty="0"/>
              <a:t>5. ATTRITION RATE BY GENDER (DONUT CHART)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4211F9-3E82-40F8-881C-5BC2E245CB2F}"/>
              </a:ext>
            </a:extLst>
          </p:cNvPr>
          <p:cNvSpPr txBox="1"/>
          <p:nvPr/>
        </p:nvSpPr>
        <p:spPr>
          <a:xfrm>
            <a:off x="776411" y="3937198"/>
            <a:ext cx="6322218" cy="132856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9pPr>
          </a:lstStyle>
          <a:p>
            <a:r>
              <a:rPr lang="en-US" dirty="0"/>
              <a:t>Compares attrition percentage between male and female employees.</a:t>
            </a:r>
          </a:p>
          <a:p>
            <a:r>
              <a:rPr lang="en-US" dirty="0"/>
              <a:t>Male employees show slightly higher attrition compared to females.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C2D98F-4E9E-416F-8A74-E91545E8E69B}"/>
              </a:ext>
            </a:extLst>
          </p:cNvPr>
          <p:cNvSpPr txBox="1"/>
          <p:nvPr/>
        </p:nvSpPr>
        <p:spPr>
          <a:xfrm>
            <a:off x="568052" y="403659"/>
            <a:ext cx="6738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en-US" dirty="0"/>
              <a:t>4. GENDER FILTER (SLICER)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83B7B-E670-47D1-801F-1FED059F246D}"/>
              </a:ext>
            </a:extLst>
          </p:cNvPr>
          <p:cNvSpPr txBox="1"/>
          <p:nvPr/>
        </p:nvSpPr>
        <p:spPr>
          <a:xfrm>
            <a:off x="776411" y="1197667"/>
            <a:ext cx="6322218" cy="77457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9pPr>
          </a:lstStyle>
          <a:p>
            <a:r>
              <a:rPr lang="en-US" dirty="0"/>
              <a:t>Allows users to filter dashboard visuals by gender.</a:t>
            </a:r>
          </a:p>
          <a:p>
            <a:r>
              <a:rPr lang="en-US" dirty="0"/>
              <a:t>Makes the dashboard interactive and dynamic.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CCC168-00E5-4B21-9DB1-E9569ED7B4B4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481001-AA87-4EC2-8030-F228E50F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620" y="1265487"/>
            <a:ext cx="1575217" cy="127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532E79-0DA4-4649-AA88-61B130170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596" y="3614766"/>
            <a:ext cx="3668912" cy="164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3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3E9B84-0F0B-4950-8429-4DF207DD7366}"/>
              </a:ext>
            </a:extLst>
          </p:cNvPr>
          <p:cNvSpPr txBox="1"/>
          <p:nvPr/>
        </p:nvSpPr>
        <p:spPr>
          <a:xfrm>
            <a:off x="522387" y="1343269"/>
            <a:ext cx="4754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en-US" dirty="0"/>
              <a:t>1. AVERAGE INCOME KPI CARD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3C4ED3-7D72-4F13-A728-A73747437F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6635" y="2135619"/>
            <a:ext cx="8129588" cy="8053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Displays the overall average monthly income of employees.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The average income in the organization is 6,503.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5BB14-AADA-4A92-923E-53D908F3940A}"/>
              </a:ext>
            </a:extLst>
          </p:cNvPr>
          <p:cNvSpPr txBox="1"/>
          <p:nvPr/>
        </p:nvSpPr>
        <p:spPr>
          <a:xfrm>
            <a:off x="546496" y="3429000"/>
            <a:ext cx="7083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en-US" dirty="0"/>
              <a:t>2. AVERAGE INCOME BY EDUCATION (BAR CHART)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3A54085-62BC-4625-A5EA-CCD1AC31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4" y="3999825"/>
            <a:ext cx="8129589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Compares employee income across different education levels.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Employees with Doctoral Degrees earn the highest average income.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Employees with High School education earn comparatively lower salaries.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D26A83-7F1E-46BA-AF61-9A72FD892453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97E8C-9CB6-4C73-875D-3C2559BA95F5}"/>
              </a:ext>
            </a:extLst>
          </p:cNvPr>
          <p:cNvSpPr txBox="1"/>
          <p:nvPr/>
        </p:nvSpPr>
        <p:spPr>
          <a:xfrm>
            <a:off x="2312776" y="601867"/>
            <a:ext cx="7561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+mj-lt"/>
              </a:rPr>
              <a:t>EMPLOYEE INCOME &amp; EDUCATION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FB6558-A633-420F-B763-94320F5C9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261" y="1480415"/>
            <a:ext cx="2354399" cy="13777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5DAB01-8FD0-41FF-885D-F5C98ECFD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168" y="3741895"/>
            <a:ext cx="2562583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4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BA93CC3-D9FD-45E6-AF82-A241C628653D}"/>
              </a:ext>
            </a:extLst>
          </p:cNvPr>
          <p:cNvSpPr txBox="1"/>
          <p:nvPr/>
        </p:nvSpPr>
        <p:spPr>
          <a:xfrm>
            <a:off x="661391" y="1343035"/>
            <a:ext cx="7697390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Shows average salary for different job roles. </a:t>
            </a:r>
          </a:p>
          <a:p>
            <a:r>
              <a:rPr lang="en-US" dirty="0"/>
              <a:t>Manager and Research Director roles have the highest salaries. </a:t>
            </a:r>
          </a:p>
          <a:p>
            <a:r>
              <a:rPr lang="en-US" dirty="0"/>
              <a:t>Sales Representatives and Laboratory Technicians have lower average income.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E76864-0278-423D-95DC-FD58A1EBFD62}"/>
              </a:ext>
            </a:extLst>
          </p:cNvPr>
          <p:cNvSpPr txBox="1"/>
          <p:nvPr/>
        </p:nvSpPr>
        <p:spPr>
          <a:xfrm>
            <a:off x="338140" y="566878"/>
            <a:ext cx="6093618" cy="369332"/>
          </a:xfrm>
          <a:prstGeom prst="rect">
            <a:avLst/>
          </a:prstGeom>
        </p:spPr>
        <p:txBody>
          <a:bodyPr>
            <a:normAutofit fontScale="92500"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3. Average Income by Job Role (Table)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C2ABF-9C6D-4310-A6DD-35E54B72AE6B}"/>
              </a:ext>
            </a:extLst>
          </p:cNvPr>
          <p:cNvSpPr txBox="1"/>
          <p:nvPr/>
        </p:nvSpPr>
        <p:spPr>
          <a:xfrm>
            <a:off x="338140" y="3200206"/>
            <a:ext cx="9803010" cy="54104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4. Average Income Growth by Years at Company (Line Chart)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B8302EC-3F8D-4F69-84B3-D7E861286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91" y="3834620"/>
            <a:ext cx="7049093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Displays how employee income changes with years of experience in the company.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Income generally increases with employee tenure.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Some fluctuations indicate role changes or salary variations.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1C9274-13E0-4291-A2AB-60BE1AD0E2ED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05D2C-F2ED-4756-8C65-C6B56E65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484" y="679599"/>
            <a:ext cx="3669742" cy="2120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2B64D6-3207-48C0-9A52-4C24B8F05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107" y="3741250"/>
            <a:ext cx="3622119" cy="206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10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EC5BBC32-D124-427A-A502-2A14C34A198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2912" y="1196877"/>
            <a:ext cx="8129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51EE87-B553-4ECF-BA5B-99C98C8A66FF}"/>
              </a:ext>
            </a:extLst>
          </p:cNvPr>
          <p:cNvSpPr txBox="1"/>
          <p:nvPr/>
        </p:nvSpPr>
        <p:spPr>
          <a:xfrm>
            <a:off x="128588" y="555545"/>
            <a:ext cx="10258427" cy="40011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5. Total Employees by Education and Department (Pie Chart)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5AF82A0-E9A1-4AA5-A54A-DA8A3D7FD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1" y="1058762"/>
            <a:ext cx="7900988" cy="18620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Shows employee distribution based on education level and department.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Bachelor’s Degree employees form the largest workforce segment.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Doctoral Degree employees represent the smallest group.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altLang="en-US" dirty="0"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51B211-ED29-4EDB-B9F2-C87405286D11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95382-82FE-4BE5-AC15-CE2C2C01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871" y="3023917"/>
            <a:ext cx="4005495" cy="251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38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C862D8-D232-4FE1-B164-AC26D15B51C1}"/>
              </a:ext>
            </a:extLst>
          </p:cNvPr>
          <p:cNvSpPr txBox="1"/>
          <p:nvPr/>
        </p:nvSpPr>
        <p:spPr>
          <a:xfrm>
            <a:off x="-282772" y="1395579"/>
            <a:ext cx="8769547" cy="64633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1. Marital Status Distribution (Donut Chart)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7787C-24CE-4FDF-AB0E-24B23EF636FA}"/>
              </a:ext>
            </a:extLst>
          </p:cNvPr>
          <p:cNvSpPr txBox="1"/>
          <p:nvPr/>
        </p:nvSpPr>
        <p:spPr>
          <a:xfrm>
            <a:off x="828135" y="1887247"/>
            <a:ext cx="6983015" cy="18620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employee distribution based on marital status. </a:t>
            </a:r>
          </a:p>
          <a:p>
            <a:r>
              <a:rPr lang="en-US" dirty="0"/>
              <a:t>Married employees represent the largest portion of the workforce. </a:t>
            </a:r>
          </a:p>
          <a:p>
            <a:r>
              <a:rPr lang="en-US" dirty="0"/>
              <a:t>Single employees form the second-largest group. </a:t>
            </a:r>
          </a:p>
          <a:p>
            <a:r>
              <a:rPr lang="en-US" dirty="0"/>
              <a:t>Divorced employees represent the smallest category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170FE-09FB-4F0E-8733-7A6DC6E0E1B8}"/>
              </a:ext>
            </a:extLst>
          </p:cNvPr>
          <p:cNvSpPr txBox="1"/>
          <p:nvPr/>
        </p:nvSpPr>
        <p:spPr>
          <a:xfrm>
            <a:off x="-114300" y="4149401"/>
            <a:ext cx="3143250" cy="369332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KPI Cards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F1CBCF-3DA6-488E-8650-CAE132B42269}"/>
              </a:ext>
            </a:extLst>
          </p:cNvPr>
          <p:cNvSpPr txBox="1"/>
          <p:nvPr/>
        </p:nvSpPr>
        <p:spPr>
          <a:xfrm>
            <a:off x="828135" y="4670591"/>
            <a:ext cx="7511652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Total Employees – 1,470</a:t>
            </a:r>
          </a:p>
          <a:p>
            <a:r>
              <a:rPr lang="en-US" dirty="0"/>
              <a:t>Shows the total workforce count in the organization. </a:t>
            </a:r>
          </a:p>
          <a:p>
            <a:r>
              <a:rPr lang="en-US" dirty="0"/>
              <a:t>Attrition – 237</a:t>
            </a:r>
          </a:p>
          <a:p>
            <a:r>
              <a:rPr lang="en-US" dirty="0"/>
              <a:t>Represents the number of employees who left the company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FA3E67-55A6-4872-A1D5-DE61894D9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547" y="4670591"/>
            <a:ext cx="1780480" cy="923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D868B4-22FF-45AE-B001-663845443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90" y="4670591"/>
            <a:ext cx="1780480" cy="9375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BCD634B-A59F-4AFE-8C1F-86D6A0815632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8D0496-345E-4447-9D04-C9516945885F}"/>
              </a:ext>
            </a:extLst>
          </p:cNvPr>
          <p:cNvSpPr txBox="1"/>
          <p:nvPr/>
        </p:nvSpPr>
        <p:spPr>
          <a:xfrm>
            <a:off x="2513124" y="615827"/>
            <a:ext cx="6716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+mj-lt"/>
              </a:rPr>
              <a:t>EMPLOYEE MARITAL STATUS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F3F76C-BF2C-4374-AB70-9E5A79030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151" y="1519961"/>
            <a:ext cx="3293062" cy="224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1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DC1877-C834-437A-A274-D19D614C0A4C}"/>
              </a:ext>
            </a:extLst>
          </p:cNvPr>
          <p:cNvSpPr txBox="1"/>
          <p:nvPr/>
        </p:nvSpPr>
        <p:spPr>
          <a:xfrm>
            <a:off x="-406392" y="455323"/>
            <a:ext cx="8558212" cy="64633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3. Marital Status Based on Gender (Table)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28307-EFB2-40FC-9B52-B2BA815746F7}"/>
              </a:ext>
            </a:extLst>
          </p:cNvPr>
          <p:cNvSpPr txBox="1"/>
          <p:nvPr/>
        </p:nvSpPr>
        <p:spPr>
          <a:xfrm>
            <a:off x="1003696" y="965758"/>
            <a:ext cx="7854556" cy="83099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marital status distribution separately for male and female employees. </a:t>
            </a:r>
          </a:p>
          <a:p>
            <a:r>
              <a:rPr lang="en-US" dirty="0"/>
              <a:t>Male employees have higher overall counts across all marital categories. </a:t>
            </a:r>
          </a:p>
          <a:p>
            <a:r>
              <a:rPr lang="en-US" dirty="0"/>
              <a:t>Married employees are dominant in both genders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587817-335B-4C0B-BFC2-FDAC31A61448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EAF04-5DF7-4A4D-9C8E-ED141784AEE8}"/>
              </a:ext>
            </a:extLst>
          </p:cNvPr>
          <p:cNvSpPr txBox="1"/>
          <p:nvPr/>
        </p:nvSpPr>
        <p:spPr>
          <a:xfrm>
            <a:off x="385763" y="3569887"/>
            <a:ext cx="9469040" cy="64633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4. Average Monthly Income by Marital Status (Bar Chart)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0DEDA-D821-4537-AE2E-52774CAA1E68}"/>
              </a:ext>
            </a:extLst>
          </p:cNvPr>
          <p:cNvSpPr txBox="1"/>
          <p:nvPr/>
        </p:nvSpPr>
        <p:spPr>
          <a:xfrm>
            <a:off x="1003696" y="4216218"/>
            <a:ext cx="6686550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Compares employee income based on marital status. </a:t>
            </a:r>
          </a:p>
          <a:p>
            <a:r>
              <a:rPr lang="en-US" dirty="0"/>
              <a:t>Married and divorced employees have higher average income. </a:t>
            </a:r>
          </a:p>
          <a:p>
            <a:r>
              <a:rPr lang="en-US" dirty="0"/>
              <a:t>Single employees have comparatively lower average salary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B5B0DA-5A46-49AA-B509-1FC0685F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726" y="1519411"/>
            <a:ext cx="3172268" cy="11639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D60492-31EE-4DB0-9059-704217C81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726" y="4084084"/>
            <a:ext cx="3172268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6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DBEEAF-70FA-4A7E-A1E8-0E1C605EB436}"/>
              </a:ext>
            </a:extLst>
          </p:cNvPr>
          <p:cNvSpPr txBox="1"/>
          <p:nvPr/>
        </p:nvSpPr>
        <p:spPr>
          <a:xfrm>
            <a:off x="0" y="524066"/>
            <a:ext cx="9344025" cy="64633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5. Overtime Rate by Marital Status (Column Chart)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973ED6-D9FD-451B-A992-889B9735A517}"/>
              </a:ext>
            </a:extLst>
          </p:cNvPr>
          <p:cNvSpPr txBox="1"/>
          <p:nvPr/>
        </p:nvSpPr>
        <p:spPr>
          <a:xfrm>
            <a:off x="1171576" y="1213111"/>
            <a:ext cx="7258050" cy="16312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Shows overtime percentage among different marital groups. </a:t>
            </a:r>
          </a:p>
          <a:p>
            <a:r>
              <a:rPr lang="en-US" dirty="0"/>
              <a:t>Divorced employees have the highest overtime rate. </a:t>
            </a:r>
          </a:p>
          <a:p>
            <a:r>
              <a:rPr lang="en-US" dirty="0"/>
              <a:t>Married employees show slightly lower overtime participation.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77E5DF-AC32-4064-BD04-4BF6AA4E997A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FA7B5-E291-45F8-A004-F08CD1293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959" y="3056278"/>
            <a:ext cx="3891179" cy="241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59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A0999D-E9E6-4314-8AE5-268BF6FD80B8}"/>
              </a:ext>
            </a:extLst>
          </p:cNvPr>
          <p:cNvSpPr txBox="1"/>
          <p:nvPr/>
        </p:nvSpPr>
        <p:spPr>
          <a:xfrm>
            <a:off x="-329206" y="1323552"/>
            <a:ext cx="7872413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1. Job Satisfaction Analysis (Bar Chart)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6CC05-EAE4-48BB-9FF9-13B3C89216CE}"/>
              </a:ext>
            </a:extLst>
          </p:cNvPr>
          <p:cNvSpPr txBox="1"/>
          <p:nvPr/>
        </p:nvSpPr>
        <p:spPr>
          <a:xfrm>
            <a:off x="817437" y="1878364"/>
            <a:ext cx="7397352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employee count based on job satisfaction levels. </a:t>
            </a:r>
          </a:p>
          <a:p>
            <a:r>
              <a:rPr lang="en-US" dirty="0"/>
              <a:t>Satisfaction levels range from 1 to 4. </a:t>
            </a:r>
          </a:p>
          <a:p>
            <a:r>
              <a:rPr lang="en-US" dirty="0"/>
              <a:t>Most employees fall under satisfaction levels 3 and 4. </a:t>
            </a:r>
          </a:p>
          <a:p>
            <a:r>
              <a:rPr lang="en-US" dirty="0"/>
              <a:t>Fewer employees are in lower satisfaction categories.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ED005-0C7A-48EF-A2B0-E99B1C0D7AAF}"/>
              </a:ext>
            </a:extLst>
          </p:cNvPr>
          <p:cNvSpPr txBox="1"/>
          <p:nvPr/>
        </p:nvSpPr>
        <p:spPr>
          <a:xfrm>
            <a:off x="114972" y="4000778"/>
            <a:ext cx="8049216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Distance From Home Analysis (Donut Chart)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17697-70E7-4ECE-9536-2EEBAD878C78}"/>
              </a:ext>
            </a:extLst>
          </p:cNvPr>
          <p:cNvSpPr txBox="1"/>
          <p:nvPr/>
        </p:nvSpPr>
        <p:spPr>
          <a:xfrm>
            <a:off x="817437" y="4620839"/>
            <a:ext cx="7397351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Shows employee distribution based on travel distance from home to workplace. </a:t>
            </a:r>
          </a:p>
          <a:p>
            <a:r>
              <a:rPr lang="en-US" dirty="0"/>
              <a:t>Most employees live within the 0–5 km range. </a:t>
            </a:r>
          </a:p>
          <a:p>
            <a:r>
              <a:rPr lang="en-US" dirty="0"/>
              <a:t>Fewer employees travel longer distances above 20 km.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50F7E8-0DBD-4960-AFA6-A9A91FDD838A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F6B0E1-2DD7-4E0C-8211-2F8E6363AED1}"/>
              </a:ext>
            </a:extLst>
          </p:cNvPr>
          <p:cNvSpPr txBox="1"/>
          <p:nvPr/>
        </p:nvSpPr>
        <p:spPr>
          <a:xfrm>
            <a:off x="1652339" y="556168"/>
            <a:ext cx="8882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+mj-lt"/>
              </a:rPr>
              <a:t>EMPLOYEE SATISFACTION &amp; WORKFORCE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77DAD0-EEF6-451B-BDE6-69D142EF9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582" y="1521985"/>
            <a:ext cx="3174893" cy="18195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39E0D8-0F60-49DF-86ED-B664AE231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670" y="4323942"/>
            <a:ext cx="3174893" cy="190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7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7584C-22F2-4323-8522-12047E856E0F}"/>
              </a:ext>
            </a:extLst>
          </p:cNvPr>
          <p:cNvSpPr txBox="1"/>
          <p:nvPr/>
        </p:nvSpPr>
        <p:spPr>
          <a:xfrm>
            <a:off x="385763" y="537100"/>
            <a:ext cx="11037688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3. Average Distance From Home AND AVERAGE SALARY HIKE (KPI Cards)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E6966-CC2B-4857-B6E8-E836B579F52E}"/>
              </a:ext>
            </a:extLst>
          </p:cNvPr>
          <p:cNvSpPr txBox="1"/>
          <p:nvPr/>
        </p:nvSpPr>
        <p:spPr>
          <a:xfrm>
            <a:off x="768549" y="1081174"/>
            <a:ext cx="7629525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the average commuting distance and average salary increment provided to employees.</a:t>
            </a:r>
          </a:p>
          <a:p>
            <a:r>
              <a:rPr lang="en-US" dirty="0"/>
              <a:t>The average distance from home is 9.2 km.</a:t>
            </a:r>
          </a:p>
          <a:p>
            <a:r>
              <a:rPr lang="en-US" dirty="0"/>
              <a:t>The average salary hike is 15.2%.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3F41F-F58E-4911-91A9-20D84CE28DD9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981DF-F4AA-4CD9-AF46-3722872450DB}"/>
              </a:ext>
            </a:extLst>
          </p:cNvPr>
          <p:cNvSpPr txBox="1"/>
          <p:nvPr/>
        </p:nvSpPr>
        <p:spPr>
          <a:xfrm>
            <a:off x="385763" y="3457572"/>
            <a:ext cx="8983266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4. Attrition Rate by Stock Option Level (Column Chart)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3E9671-FFAF-4876-B037-92DC4BCBA07A}"/>
              </a:ext>
            </a:extLst>
          </p:cNvPr>
          <p:cNvSpPr txBox="1"/>
          <p:nvPr/>
        </p:nvSpPr>
        <p:spPr>
          <a:xfrm>
            <a:off x="798313" y="4092468"/>
            <a:ext cx="7240191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Analyzes employee attrition based on stock option levels. </a:t>
            </a:r>
          </a:p>
          <a:p>
            <a:r>
              <a:rPr lang="en-US" dirty="0"/>
              <a:t>Employees with lower or no stock options show higher attrition rates. </a:t>
            </a:r>
          </a:p>
          <a:p>
            <a:r>
              <a:rPr lang="en-US" dirty="0"/>
              <a:t>Attrition decreases at certain stock option levels.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894CBF-9BAA-447F-9FD4-F7A846F28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942" y="1562889"/>
            <a:ext cx="2251208" cy="1350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C0679F-CFB8-4A13-B931-17F91D27B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851" y="1562889"/>
            <a:ext cx="2365600" cy="13507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149945-7B42-48A6-8116-B80A3B08C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714" y="4027273"/>
            <a:ext cx="3295974" cy="195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60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4EE4D1-70A9-4AA1-AA18-7AE7985387CF}"/>
              </a:ext>
            </a:extLst>
          </p:cNvPr>
          <p:cNvSpPr txBox="1"/>
          <p:nvPr/>
        </p:nvSpPr>
        <p:spPr>
          <a:xfrm>
            <a:off x="360759" y="760952"/>
            <a:ext cx="8583215" cy="87707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1. Department Performance Over Time (Area Chart)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33797-1EE3-4C5D-B69B-D4C22777E227}"/>
              </a:ext>
            </a:extLst>
          </p:cNvPr>
          <p:cNvSpPr txBox="1"/>
          <p:nvPr/>
        </p:nvSpPr>
        <p:spPr>
          <a:xfrm>
            <a:off x="1046560" y="1914064"/>
            <a:ext cx="11013281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employee performance trends across departments over years at the company. </a:t>
            </a:r>
          </a:p>
          <a:p>
            <a:r>
              <a:rPr lang="en-US" dirty="0"/>
              <a:t>Compares HR, R&amp;D, and Sales departments over time. </a:t>
            </a:r>
          </a:p>
          <a:p>
            <a:r>
              <a:rPr lang="en-US" dirty="0"/>
              <a:t>R&amp;D and Sales departments show higher employee activity initially. </a:t>
            </a:r>
          </a:p>
          <a:p>
            <a:r>
              <a:rPr lang="en-US" dirty="0"/>
              <a:t>Employee count gradually decreases over longer years of service.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3D49C-EE09-4A57-8EE7-922B0E91B75F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425CA-525B-4BE7-A148-763BF723463A}"/>
              </a:ext>
            </a:extLst>
          </p:cNvPr>
          <p:cNvSpPr txBox="1"/>
          <p:nvPr/>
        </p:nvSpPr>
        <p:spPr>
          <a:xfrm>
            <a:off x="2562226" y="530119"/>
            <a:ext cx="9629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EMPLOYEE PERFORMANCE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05DF6-E38A-4EEE-9266-0C2B4CB27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31" y="3949616"/>
            <a:ext cx="7622882" cy="189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92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E95B5-4695-4B71-AE68-735552185D39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8BE07-66FC-488D-896C-69A7DB00DAEF}"/>
              </a:ext>
            </a:extLst>
          </p:cNvPr>
          <p:cNvSpPr txBox="1"/>
          <p:nvPr/>
        </p:nvSpPr>
        <p:spPr>
          <a:xfrm>
            <a:off x="-214311" y="684341"/>
            <a:ext cx="11262122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Job Satisfaction by Department and Role (Heatmap/Table)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0D56F-46BC-4E97-AC42-A332BB7D8653}"/>
              </a:ext>
            </a:extLst>
          </p:cNvPr>
          <p:cNvSpPr txBox="1"/>
          <p:nvPr/>
        </p:nvSpPr>
        <p:spPr>
          <a:xfrm>
            <a:off x="889397" y="1330672"/>
            <a:ext cx="11013281" cy="113877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 Shows job satisfaction scores across departments and job roles. </a:t>
            </a:r>
          </a:p>
          <a:p>
            <a:r>
              <a:rPr lang="en-US" dirty="0"/>
              <a:t>Different colors represent different satisfaction levels. </a:t>
            </a:r>
          </a:p>
          <a:p>
            <a:r>
              <a:rPr lang="en-US" dirty="0"/>
              <a:t>Managers and Research-related roles show relatively higher satisfaction. </a:t>
            </a:r>
          </a:p>
          <a:p>
            <a:r>
              <a:rPr lang="en-US" dirty="0"/>
              <a:t>HR department shows comparatively lower satisfaction in some roles.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DD9A7-C926-4397-91C2-F53F7BB7F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03" y="3498956"/>
            <a:ext cx="7125694" cy="143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63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4797A-4857-44C8-8DB8-B1C17616D7DB}"/>
              </a:ext>
            </a:extLst>
          </p:cNvPr>
          <p:cNvSpPr txBox="1"/>
          <p:nvPr/>
        </p:nvSpPr>
        <p:spPr>
          <a:xfrm>
            <a:off x="160736" y="397613"/>
            <a:ext cx="11644312" cy="92333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3. Attrition Rate by Number of Companies Worked Previously (Bar Chart)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E5DFE-C971-4D4D-ACED-6A55DBB9F317}"/>
              </a:ext>
            </a:extLst>
          </p:cNvPr>
          <p:cNvSpPr txBox="1"/>
          <p:nvPr/>
        </p:nvSpPr>
        <p:spPr>
          <a:xfrm>
            <a:off x="889398" y="1026556"/>
            <a:ext cx="8326040" cy="117981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Analyzes attrition based on employee’s previous work experience. </a:t>
            </a:r>
          </a:p>
          <a:p>
            <a:r>
              <a:rPr lang="en-US" dirty="0"/>
              <a:t>Employees who worked in multiple companies show higher attrition rates. </a:t>
            </a:r>
          </a:p>
          <a:p>
            <a:r>
              <a:rPr lang="en-US" dirty="0"/>
              <a:t>Attrition is lower for employees with fewer previous employers.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D3878-3F74-4FA1-979F-BFA773DA88AD}"/>
              </a:ext>
            </a:extLst>
          </p:cNvPr>
          <p:cNvSpPr txBox="1"/>
          <p:nvPr/>
        </p:nvSpPr>
        <p:spPr>
          <a:xfrm>
            <a:off x="689373" y="4539443"/>
            <a:ext cx="3396852" cy="36933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DAX Measures Used: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7C96C-6348-403B-AE94-BE2602BEE4EF}"/>
              </a:ext>
            </a:extLst>
          </p:cNvPr>
          <p:cNvSpPr txBox="1"/>
          <p:nvPr/>
        </p:nvSpPr>
        <p:spPr>
          <a:xfrm>
            <a:off x="889398" y="5065650"/>
            <a:ext cx="8483203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Total Employees = COUNT(Employee ID) </a:t>
            </a:r>
          </a:p>
          <a:p>
            <a:r>
              <a:rPr lang="en-US" dirty="0"/>
              <a:t>Attrition Count = CALCULATE(COUNT(Employee ID), Attrition = "Yes") </a:t>
            </a:r>
          </a:p>
          <a:p>
            <a:r>
              <a:rPr lang="en-US" dirty="0"/>
              <a:t>Attrition Rate = (Attrition Count / Total Employees) × 100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DBE6F-1FC0-4E22-BC88-1313064E95AF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62349-0EB8-4F31-9955-9CA9D8488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872" y="2591809"/>
            <a:ext cx="8326040" cy="156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16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ED1DD7-7D46-41B1-B771-96E957FF5537}"/>
              </a:ext>
            </a:extLst>
          </p:cNvPr>
          <p:cNvSpPr txBox="1"/>
          <p:nvPr/>
        </p:nvSpPr>
        <p:spPr>
          <a:xfrm>
            <a:off x="617934" y="567350"/>
            <a:ext cx="2182416" cy="36933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C61BE-FDFC-45A4-8DA9-934F0B9469A1}"/>
              </a:ext>
            </a:extLst>
          </p:cNvPr>
          <p:cNvSpPr txBox="1"/>
          <p:nvPr/>
        </p:nvSpPr>
        <p:spPr>
          <a:xfrm>
            <a:off x="775096" y="1131614"/>
            <a:ext cx="7225904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Improved understanding of Power BI dashboard development </a:t>
            </a:r>
          </a:p>
          <a:p>
            <a:r>
              <a:rPr lang="en-US" dirty="0"/>
              <a:t>Learned data cleaning and transformation using Power Query </a:t>
            </a:r>
          </a:p>
          <a:p>
            <a:r>
              <a:rPr lang="en-US" dirty="0"/>
              <a:t>Gained experience in creating DAX measures and KPIs </a:t>
            </a:r>
          </a:p>
          <a:p>
            <a:r>
              <a:rPr lang="en-US" dirty="0"/>
              <a:t>Understood the importance of proper data visualization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0513C-A9E7-4F2A-B67E-BE8DDA74FF65}"/>
              </a:ext>
            </a:extLst>
          </p:cNvPr>
          <p:cNvSpPr txBox="1"/>
          <p:nvPr/>
        </p:nvSpPr>
        <p:spPr>
          <a:xfrm>
            <a:off x="385763" y="3354813"/>
            <a:ext cx="1925241" cy="36933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Roadmap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A8C6E-95A7-4E9D-9B4E-1C04A4D8CCF0}"/>
              </a:ext>
            </a:extLst>
          </p:cNvPr>
          <p:cNvSpPr txBox="1"/>
          <p:nvPr/>
        </p:nvSpPr>
        <p:spPr>
          <a:xfrm>
            <a:off x="775096" y="4039441"/>
            <a:ext cx="8240317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Enhance the dashboard with advanced HR analytics features </a:t>
            </a:r>
          </a:p>
          <a:p>
            <a:r>
              <a:rPr lang="en-US" dirty="0"/>
              <a:t>Integrate real-time data sources for live reporting </a:t>
            </a:r>
          </a:p>
          <a:p>
            <a:r>
              <a:rPr lang="en-US" dirty="0"/>
              <a:t>Add predictive analysis for employee attrition forecasting </a:t>
            </a:r>
          </a:p>
          <a:p>
            <a:r>
              <a:rPr lang="en-US" dirty="0"/>
              <a:t>Improve dashboard UI/UX for better user experience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39F63E-F522-494F-96F9-2F7AAFEAE418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709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BA0E-A959-48E4-86FA-6B0E395F8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531" y="2044700"/>
            <a:ext cx="9001462" cy="13208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A4880-A6ED-4EED-B422-53377F4C4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2888" y="5095875"/>
            <a:ext cx="9001462" cy="1955800"/>
          </a:xfrm>
        </p:spPr>
        <p:txBody>
          <a:bodyPr>
            <a:normAutofit/>
          </a:bodyPr>
          <a:lstStyle/>
          <a:p>
            <a:r>
              <a:rPr lang="en-US" dirty="0"/>
              <a:t>QUESTIONS &amp; DISCUSSIONS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472D0-1090-433B-909D-EA9616F5524C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721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762</TotalTime>
  <Words>1252</Words>
  <Application>Microsoft Office PowerPoint</Application>
  <PresentationFormat>Widescreen</PresentationFormat>
  <Paragraphs>177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Bookman Old Style</vt:lpstr>
      <vt:lpstr>Calibri</vt:lpstr>
      <vt:lpstr>Rockwell</vt:lpstr>
      <vt:lpstr>Wingdings</vt:lpstr>
      <vt:lpstr>Damask</vt:lpstr>
      <vt:lpstr>Employee Attrition &amp; Workforce Insights</vt:lpstr>
      <vt:lpstr>AGENDA</vt:lpstr>
      <vt:lpstr> Dataset Summary </vt:lpstr>
      <vt:lpstr>Power Query Data Transformation Steps</vt:lpstr>
      <vt:lpstr>Data Model Design</vt:lpstr>
      <vt:lpstr>1. KPI Cards</vt:lpstr>
      <vt:lpstr>3. Employees by Age Group (Bar Chart)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Dashboard: Employee Attrition &amp; Workforce Insights</dc:title>
  <dc:creator>Rajesh BK</dc:creator>
  <cp:lastModifiedBy>Rajesh BK</cp:lastModifiedBy>
  <cp:revision>12</cp:revision>
  <dcterms:created xsi:type="dcterms:W3CDTF">2026-05-13T11:53:10Z</dcterms:created>
  <dcterms:modified xsi:type="dcterms:W3CDTF">2026-06-10T14:38:24Z</dcterms:modified>
</cp:coreProperties>
</file>